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021520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6604538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210849762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34432481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7333144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31119170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485278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2317743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22391372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87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0832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5048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101E8A-18EC-1E49-078F-1D2CE68B0305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672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626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327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104ED-59C1-4F48-A785-D827731E80CB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160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0872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669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A8BB65-983B-AA4F-2AB1-5D8B90FBF97F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9458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2451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87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FEDC49-CD24-1182-4CEF-FDBA1B67E651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305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8233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71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6F110A-2121-E519-2031-E6F2EECE2DA1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31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4394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021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90E230-672D-1880-F03D-CE4EC4FB8668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1798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59068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8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06E13A-7496-438E-0139-CE69DCC03EF6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74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20715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5891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9F7DD6-C96A-E46A-CADD-B897DE5B9ADE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52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416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9545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E999F-DA12-C9C2-4A13-AEC5B25D49C4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4716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5552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5222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5E7275-670E-4092-25B7-69B3023BEF91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856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0099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44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DE4691-57E6-7FD9-893F-C5EDC1293B9A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8244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4966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261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F56A02-7CD4-ADAE-FD58-1FE1A06FEB21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744067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5773094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22514389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02654894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84109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98705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2219325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9277745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5851268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5137563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299269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66450642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1384509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2393926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4105652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4544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69582569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93789800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9072230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9535881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611887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328378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66874345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9472127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9188557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57610807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70058261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38782742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38038914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9848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00117662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8697953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3436761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201288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17120677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1568538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41079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47383569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6540512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3475098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8645043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2732471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83424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07864196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649677515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3154925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5577369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10552701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23905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69714532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4773625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2195587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2187285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72797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65823067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065341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2330425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3260802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190871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27552004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5702846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1431033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9909131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602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16" y="0"/>
            <a:ext cx="6752166" cy="6858000"/>
          </a:xfrm>
          <a:prstGeom prst="rect">
            <a:avLst/>
          </a:prstGeom>
        </p:spPr>
      </p:pic>
      <p:sp>
        <p:nvSpPr>
          <p:cNvPr id="659061710" name=""/>
          <p:cNvSpPr txBox="1"/>
          <p:nvPr/>
        </p:nvSpPr>
        <p:spPr bwMode="auto">
          <a:xfrm flipH="0" flipV="0">
            <a:off x="6795583" y="867833"/>
            <a:ext cx="5373526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200" b="1">
                <a:latin typeface="Calibri"/>
                <a:ea typeface="Calibri"/>
                <a:cs typeface="Calibri"/>
              </a:rPr>
              <a:t>Калькулятор для учёта личных финансов</a:t>
            </a:r>
            <a:endParaRPr sz="3200"/>
          </a:p>
        </p:txBody>
      </p:sp>
      <p:sp>
        <p:nvSpPr>
          <p:cNvPr id="1348564105" name=""/>
          <p:cNvSpPr txBox="1"/>
          <p:nvPr/>
        </p:nvSpPr>
        <p:spPr bwMode="auto">
          <a:xfrm flipH="0" flipV="0">
            <a:off x="6795583" y="2238374"/>
            <a:ext cx="5041036" cy="2042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Арапан Алексей Евгеньевич — группа 01.24.ИСИП.ОФ.9-НСК</a:t>
            </a:r>
            <a:br>
              <a:rPr lang="ru-RU" sz="2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Руководитель: Королёв Гордей </a:t>
            </a: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Александрович — Хекслет </a:t>
            </a:r>
            <a:r>
              <a:rPr lang="ru-RU" sz="2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колледж — 2026</a:t>
            </a:r>
            <a:endParaRPr sz="2200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499925" name="Прямоугольник 7"/>
          <p:cNvSpPr/>
          <p:nvPr/>
        </p:nvSpPr>
        <p:spPr bwMode="auto">
          <a:xfrm flipH="0" flipV="0">
            <a:off x="6241915" y="3857624"/>
            <a:ext cx="5862481" cy="2438399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Цель: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Разработать бесплатное автономное веб-приложение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для учёта личных финансов, которое работает в браузере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и хранит данные на устройстве пользователя</a:t>
            </a:r>
            <a:endParaRPr sz="1800" b="0" i="0" u="none" strike="noStrike" cap="none" spc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575756553" name="Прямоугольник 5"/>
          <p:cNvSpPr/>
          <p:nvPr/>
        </p:nvSpPr>
        <p:spPr bwMode="auto">
          <a:xfrm flipH="0" flipV="0">
            <a:off x="6241915" y="1142999"/>
            <a:ext cx="5862481" cy="2438399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Актуальность:</a:t>
            </a:r>
            <a:endParaRPr lang="ru-RU" sz="1800" b="0" i="0" u="none" strike="noStrike" cap="none" spc="0">
              <a:solidFill>
                <a:schemeClr val="lt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Многие люди не контролируют доходы и расходы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Существующие приложения требуют платной подписки и регистрации.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78665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2424" y="1419224"/>
            <a:ext cx="4876799" cy="4876799"/>
          </a:xfrm>
          <a:prstGeom prst="rect">
            <a:avLst/>
          </a:prstGeom>
        </p:spPr>
      </p:pic>
      <p:sp>
        <p:nvSpPr>
          <p:cNvPr id="2029641346" name=""/>
          <p:cNvSpPr txBox="1"/>
          <p:nvPr/>
        </p:nvSpPr>
        <p:spPr bwMode="auto">
          <a:xfrm flipH="0" flipV="0">
            <a:off x="943947" y="428625"/>
            <a:ext cx="440955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Calibri"/>
                <a:ea typeface="Calibri"/>
                <a:cs typeface="Calibri"/>
              </a:rPr>
              <a:t>Актуальность и цель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57821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49400" y="581024"/>
            <a:ext cx="5628299" cy="6057900"/>
          </a:xfrm>
          <a:prstGeom prst="rect">
            <a:avLst/>
          </a:prstGeom>
        </p:spPr>
      </p:pic>
      <p:sp>
        <p:nvSpPr>
          <p:cNvPr id="469409389" name=""/>
          <p:cNvSpPr txBox="1"/>
          <p:nvPr/>
        </p:nvSpPr>
        <p:spPr bwMode="auto">
          <a:xfrm flipH="0" flipV="0">
            <a:off x="477224" y="342900"/>
            <a:ext cx="57150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61582301" name=""/>
          <p:cNvSpPr txBox="1"/>
          <p:nvPr/>
        </p:nvSpPr>
        <p:spPr bwMode="auto">
          <a:xfrm flipH="0" flipV="0">
            <a:off x="496273" y="819148"/>
            <a:ext cx="5346598" cy="5578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Задачи проекта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Изучить технологии клиентской веб-разработки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Разработать интерфейс с учётом адаптивности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Реализовать добавление, просмотр и удаление операций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Организовать хранение данных в localStorage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 Реализовать фильтрацию по типу, категории и дате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 Создать модуль статистики с текстовой диаграммой</a:t>
            </a: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7. Обеспечить адаптивность для мобильных устройств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189605" name=""/>
          <p:cNvSpPr txBox="1"/>
          <p:nvPr/>
        </p:nvSpPr>
        <p:spPr bwMode="auto">
          <a:xfrm flipH="0" flipV="0">
            <a:off x="674043" y="1662324"/>
            <a:ext cx="2632582" cy="1646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8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HTML5</a:t>
            </a:r>
            <a:endParaRPr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Семантическая разметка, структура страницы</a:t>
            </a:r>
            <a:endParaRPr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_____________________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704349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3364" y="1243763"/>
            <a:ext cx="668705" cy="668705"/>
          </a:xfrm>
          <a:prstGeom prst="rect">
            <a:avLst/>
          </a:prstGeom>
        </p:spPr>
      </p:pic>
      <p:sp>
        <p:nvSpPr>
          <p:cNvPr id="1819894663" name=""/>
          <p:cNvSpPr txBox="1"/>
          <p:nvPr/>
        </p:nvSpPr>
        <p:spPr bwMode="auto">
          <a:xfrm flipH="0" flipV="0">
            <a:off x="4374893" y="2159808"/>
            <a:ext cx="248284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8295523" name=""/>
          <p:cNvSpPr txBox="1"/>
          <p:nvPr/>
        </p:nvSpPr>
        <p:spPr bwMode="auto">
          <a:xfrm flipH="0" flipV="0">
            <a:off x="3748937" y="1845204"/>
            <a:ext cx="3110963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b="1">
                <a:latin typeface="Calibri"/>
                <a:ea typeface="Calibri"/>
                <a:cs typeface="Calibri"/>
              </a:rPr>
              <a:t>CSS3</a:t>
            </a:r>
            <a:endParaRPr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Визуальное оформление, адаптивная вёрстка</a:t>
            </a:r>
            <a:endParaRPr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_______________________</a:t>
            </a:r>
            <a:endParaRPr/>
          </a:p>
        </p:txBody>
      </p:sp>
      <p:pic>
        <p:nvPicPr>
          <p:cNvPr id="163991232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06188" y="1195213"/>
            <a:ext cx="668705" cy="717254"/>
          </a:xfrm>
          <a:prstGeom prst="rect">
            <a:avLst/>
          </a:prstGeom>
        </p:spPr>
      </p:pic>
      <p:sp>
        <p:nvSpPr>
          <p:cNvPr id="753771845" name=""/>
          <p:cNvSpPr txBox="1"/>
          <p:nvPr/>
        </p:nvSpPr>
        <p:spPr bwMode="auto">
          <a:xfrm flipH="0" flipV="0">
            <a:off x="8196974" y="1845204"/>
            <a:ext cx="3255299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JavaScript (ES6+)</a:t>
            </a:r>
            <a:endParaRPr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Логика приложения, управление состоянием и DOM.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__________________________</a:t>
            </a:r>
            <a:endParaRPr/>
          </a:p>
        </p:txBody>
      </p:sp>
      <p:pic>
        <p:nvPicPr>
          <p:cNvPr id="104492749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312918" y="1219488"/>
            <a:ext cx="668705" cy="668705"/>
          </a:xfrm>
          <a:prstGeom prst="rect">
            <a:avLst/>
          </a:prstGeom>
        </p:spPr>
      </p:pic>
      <p:sp>
        <p:nvSpPr>
          <p:cNvPr id="587517163" name=""/>
          <p:cNvSpPr txBox="1"/>
          <p:nvPr/>
        </p:nvSpPr>
        <p:spPr bwMode="auto">
          <a:xfrm flipH="0" flipV="0">
            <a:off x="674043" y="4829235"/>
            <a:ext cx="3075972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localStorage</a:t>
            </a:r>
            <a:endParaRPr sz="1800"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Хранение данных, </a:t>
            </a:r>
            <a:r>
              <a:rPr lang="en-US">
                <a:latin typeface="Calibri"/>
                <a:ea typeface="Calibri"/>
                <a:cs typeface="Calibri"/>
              </a:rPr>
              <a:t>JSON,</a:t>
            </a:r>
            <a:r>
              <a:rPr lang="ru-RU">
                <a:latin typeface="Calibri"/>
                <a:ea typeface="Calibri"/>
                <a:cs typeface="Calibri"/>
              </a:rPr>
              <a:t> без сервера</a:t>
            </a:r>
            <a:endParaRPr lang="ru-RU"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ru-RU">
                <a:latin typeface="Calibri"/>
                <a:ea typeface="Calibri"/>
                <a:cs typeface="Calibri"/>
              </a:rPr>
              <a:t>_________________________</a:t>
            </a:r>
            <a:endParaRPr/>
          </a:p>
        </p:txBody>
      </p:sp>
      <p:pic>
        <p:nvPicPr>
          <p:cNvPr id="34207688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74043" y="4174740"/>
            <a:ext cx="728025" cy="728025"/>
          </a:xfrm>
          <a:prstGeom prst="rect">
            <a:avLst/>
          </a:prstGeom>
        </p:spPr>
      </p:pic>
      <p:sp>
        <p:nvSpPr>
          <p:cNvPr id="2062106725" name=""/>
          <p:cNvSpPr txBox="1"/>
          <p:nvPr/>
        </p:nvSpPr>
        <p:spPr bwMode="auto">
          <a:xfrm flipH="0" flipV="0">
            <a:off x="5437444" y="4829235"/>
            <a:ext cx="270413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GitHub Pages</a:t>
            </a: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деплой приложения в публичный доступ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  <a:p>
            <a:pPr>
              <a:defRPr/>
            </a:pPr>
            <a:r>
              <a:rPr lang="en-US">
                <a:latin typeface="Calibri"/>
                <a:ea typeface="Calibri"/>
                <a:cs typeface="Calibri"/>
              </a:rPr>
              <a:t>______________________</a:t>
            </a:r>
            <a:endParaRPr/>
          </a:p>
        </p:txBody>
      </p:sp>
      <p:pic>
        <p:nvPicPr>
          <p:cNvPr id="600543382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5437444" y="4104969"/>
            <a:ext cx="797796" cy="797796"/>
          </a:xfrm>
          <a:prstGeom prst="rect">
            <a:avLst/>
          </a:prstGeom>
        </p:spPr>
      </p:pic>
      <p:sp>
        <p:nvSpPr>
          <p:cNvPr id="616171533" name=""/>
          <p:cNvSpPr txBox="1"/>
          <p:nvPr/>
        </p:nvSpPr>
        <p:spPr bwMode="auto">
          <a:xfrm flipH="0" flipV="0">
            <a:off x="449568" y="297275"/>
            <a:ext cx="634102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 b="1">
                <a:latin typeface="Calibri"/>
                <a:ea typeface="Calibri"/>
                <a:cs typeface="Calibri"/>
              </a:rPr>
              <a:t>Технологический стек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991775" name=""/>
          <p:cNvSpPr txBox="1"/>
          <p:nvPr/>
        </p:nvSpPr>
        <p:spPr bwMode="auto">
          <a:xfrm flipH="0" flipV="0">
            <a:off x="641772" y="623272"/>
            <a:ext cx="7008874" cy="582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Архитектура приложения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MODEL       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Массив transactions              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Категории доходов и расходов     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Загрузка/сохранение в localStorage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   ↕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VIEW        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Отрисовка таблицы транзакций     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Обновление баланса, доходов, расходов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Отрисовка текстовой диаграммы    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Вывод сообщений пользователю     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   ↕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CONTROLLER   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Добавление транзакции          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Удаление транзакции            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Фильтрация по типу, категории, дате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Смена категорий при выборе типа                    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- Загрузка данных при старте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  </a:t>
            </a:r>
            <a:endParaRPr lang="ru-RU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975164078" name="Rectangle 3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41773" y="623274"/>
            <a:ext cx="10905052" cy="5607881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855776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156668" y="1932026"/>
            <a:ext cx="4806802" cy="32045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43513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600" b="1">
                <a:latin typeface="Calibri"/>
                <a:ea typeface="Calibri"/>
                <a:cs typeface="Calibri"/>
              </a:rPr>
              <a:t>Модель данных</a:t>
            </a:r>
            <a:endParaRPr/>
          </a:p>
        </p:txBody>
      </p:sp>
      <p:sp>
        <p:nvSpPr>
          <p:cNvPr id="949352945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┌─────────────────────────────────────────────────┐                 </a:t>
            </a:r>
            <a:endParaRPr lang="ru-RU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id       — уникальный номер (временная метка)              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amount   — сумма (положительное число)                       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type     — доход или расход                                                   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category — категория (Еда, Транспорт и т.д.)                   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date     — дата в формате ГГГГ-ММ-ДД                               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│  comment  — текстовый комментарий (необязательно)    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└─────────────────────────────────────────────────┘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  <p:pic>
        <p:nvPicPr>
          <p:cNvPr id="20569720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93218" y="1996003"/>
            <a:ext cx="4571482" cy="4571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38531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30955" y="515684"/>
            <a:ext cx="6497627" cy="63216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1. Добавление операции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Пользователь заполняет поля: сумму, тип (доход или расход), категорию, дату и комментарий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Нажимает кнопку «Добавить»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Приложение проверяет, что сумма больше нуля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Если всё правильно — операция появляется в таблице и сохраняется в памяти браузера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2. Удаление операции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У каждой строки в таблице есть кнопка с крестиком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 нажатии на неё появляется вопрос: «Точно удалить?»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Если пользователь соглашается — строка исчезает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3. Фильтрация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Пользователь может выбрать: показывать только доходы или только расходы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Можно отфильтровать по конкретной категории (например, только «Еда»)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Можно отфильтровать по дате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Таблица меняется мгновенно, без перезагрузки страницы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4. Статистика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Автоматически показывается общая сумма доходов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Общая сумма расходов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Баланс (доходы минус расходы)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5. Диаграмма расходов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Показывает, на что уходят деньги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Для каждой категории рисуется полоска из символов █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Рядом указывается процент от всех расходов и сумма в рублях</a:t>
            </a:r>
            <a:endParaRPr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b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/>
          </a:p>
        </p:txBody>
      </p:sp>
      <p:sp>
        <p:nvSpPr>
          <p:cNvPr id="1023789251" name=""/>
          <p:cNvSpPr txBox="1"/>
          <p:nvPr/>
        </p:nvSpPr>
        <p:spPr bwMode="auto">
          <a:xfrm flipH="0" flipV="0">
            <a:off x="134092" y="18200"/>
            <a:ext cx="509016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ОСНОВНЫЕ ФУНКЦИИ</a:t>
            </a:r>
            <a:endParaRPr/>
          </a:p>
        </p:txBody>
      </p:sp>
      <p:sp>
        <p:nvSpPr>
          <p:cNvPr id="1631332918" name=""/>
          <p:cNvSpPr/>
          <p:nvPr/>
        </p:nvSpPr>
        <p:spPr bwMode="auto">
          <a:xfrm flipH="0" flipV="0">
            <a:off x="10933136" y="-11830"/>
            <a:ext cx="1274044" cy="6881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563472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3351" y="5757373"/>
            <a:ext cx="900904" cy="900904"/>
          </a:xfrm>
          <a:prstGeom prst="rect">
            <a:avLst/>
          </a:prstGeom>
        </p:spPr>
      </p:pic>
      <p:pic>
        <p:nvPicPr>
          <p:cNvPr id="145204003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160352" y="5885493"/>
            <a:ext cx="772784" cy="772784"/>
          </a:xfrm>
          <a:prstGeom prst="rect">
            <a:avLst/>
          </a:prstGeom>
        </p:spPr>
      </p:pic>
      <p:pic>
        <p:nvPicPr>
          <p:cNvPr id="128083378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164204" y="2165875"/>
            <a:ext cx="609599" cy="609599"/>
          </a:xfrm>
          <a:prstGeom prst="rect">
            <a:avLst/>
          </a:prstGeom>
        </p:spPr>
      </p:pic>
      <p:pic>
        <p:nvPicPr>
          <p:cNvPr id="652769090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0164439" y="18200"/>
            <a:ext cx="768696" cy="768696"/>
          </a:xfrm>
          <a:prstGeom prst="rect">
            <a:avLst/>
          </a:prstGeom>
        </p:spPr>
      </p:pic>
      <p:sp>
        <p:nvSpPr>
          <p:cNvPr id="245962104" name=""/>
          <p:cNvSpPr txBox="1"/>
          <p:nvPr/>
        </p:nvSpPr>
        <p:spPr bwMode="auto">
          <a:xfrm flipH="0" flipV="0">
            <a:off x="6095999" y="1804768"/>
            <a:ext cx="4346429" cy="3779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ctr">
              <a:defRPr/>
            </a:pPr>
            <a:endParaRPr lang="ru-RU" sz="1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ПОЛЬЗОВАТЕЛЬ   </a:t>
            </a:r>
            <a:endParaRPr lang="ru-RU" sz="1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/              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|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\      </a:t>
            </a:r>
            <a:endParaRPr lang="ru-RU" sz="1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▼              ▼               ▼</a:t>
            </a:r>
            <a:endParaRPr sz="1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</a:t>
            </a:r>
            <a:endParaRPr sz="1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ДОБАВИТЬ      УДАЛИТЬ     ФИЛЬТРОВАТЬ</a:t>
            </a:r>
            <a:endParaRPr sz="1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|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</a:t>
            </a:r>
            <a:endParaRPr sz="1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▼</a:t>
            </a:r>
            <a:endParaRPr sz="1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</a:t>
            </a:r>
            <a:endParaRPr sz="1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ОБНОВЛЕНИЕ ТАБЛИЦЫ </a:t>
            </a:r>
            <a:endParaRPr sz="1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</a:t>
            </a:r>
            <a:endParaRPr sz="1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СТАТИСТИКИ            </a:t>
            </a:r>
            <a:endParaRPr sz="1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|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</a:t>
            </a:r>
            <a:endParaRPr sz="1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▼</a:t>
            </a:r>
            <a:endParaRPr sz="1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</a:t>
            </a:r>
            <a:endParaRPr sz="1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СОХРАНЕНИЕ В localStorage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</a:t>
            </a:r>
            <a:endParaRPr/>
          </a:p>
        </p:txBody>
      </p:sp>
      <p:sp>
        <p:nvSpPr>
          <p:cNvPr id="1650245752" name=""/>
          <p:cNvSpPr txBox="1"/>
          <p:nvPr/>
        </p:nvSpPr>
        <p:spPr bwMode="auto">
          <a:xfrm flipH="0" flipV="0">
            <a:off x="7320332" y="1633138"/>
            <a:ext cx="2840019" cy="3432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5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Визуальная схема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863121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7584219" y="0"/>
            <a:ext cx="4586560" cy="68252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Статистика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Общая сумма доходов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Общая сумма расходов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Текущий баланс (доходы — расходы)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Текстовая диаграмма расходов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Еда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████████ 40.0% (4000 ₽)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Транспорт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████ 20.0% (2000 ₽)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Жильё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████████ 40.0% (4000 ₽)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Хранение данных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localStorage (JSON)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Данные не теряются после закрытия браузера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4491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46364" y="4892937"/>
            <a:ext cx="1322578" cy="1322578"/>
          </a:xfrm>
          <a:prstGeom prst="rect">
            <a:avLst/>
          </a:prstGeom>
        </p:spPr>
      </p:pic>
      <p:sp>
        <p:nvSpPr>
          <p:cNvPr id="2113917633" name=""/>
          <p:cNvSpPr txBox="1"/>
          <p:nvPr/>
        </p:nvSpPr>
        <p:spPr bwMode="auto">
          <a:xfrm flipH="0" flipV="0">
            <a:off x="128025" y="0"/>
            <a:ext cx="719675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Статистика и хранение данных</a:t>
            </a:r>
            <a:endParaRPr/>
          </a:p>
        </p:txBody>
      </p:sp>
      <p:sp>
        <p:nvSpPr>
          <p:cNvPr id="1488399124" name=""/>
          <p:cNvSpPr txBox="1"/>
          <p:nvPr/>
        </p:nvSpPr>
        <p:spPr bwMode="auto">
          <a:xfrm flipH="0" flipV="0">
            <a:off x="6687" y="640439"/>
            <a:ext cx="6277112" cy="2469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Приложение автоматически считает три главных показателя: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Общий доход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— сумма всех операций с типом «доход»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Общий расход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— сумма всех операций с типом «расход»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Баланс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— разница между доходом и расходом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Если доходов больше — баланс положительный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Если расходов больше — баланс отрицательный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Длина полоски из символов █ зависит от процента, который категория занимает в общих расходах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Процент и сумма в рублях показываются рядом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Если по категории нет расходов — она не отображается</a:t>
            </a:r>
            <a:endParaRPr/>
          </a:p>
        </p:txBody>
      </p:sp>
      <p:sp>
        <p:nvSpPr>
          <p:cNvPr id="2082405176" name=""/>
          <p:cNvSpPr txBox="1"/>
          <p:nvPr/>
        </p:nvSpPr>
        <p:spPr bwMode="auto">
          <a:xfrm flipH="0" flipV="0">
            <a:off x="1086592" y="2038471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961620474" name=""/>
          <p:cNvSpPr txBox="1"/>
          <p:nvPr/>
        </p:nvSpPr>
        <p:spPr bwMode="auto">
          <a:xfrm flipH="0" flipV="0">
            <a:off x="6686" y="3109677"/>
            <a:ext cx="5485539" cy="3566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Где хранятся данные?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Всё сохраняется в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localStorage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браузера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/>
              <a:t>Как это работает?</a:t>
            </a:r>
            <a:endParaRPr sz="1200"/>
          </a:p>
          <a:p>
            <a:pPr>
              <a:defRPr/>
            </a:pPr>
            <a:r>
              <a:rPr sz="1200"/>
              <a:t>Все транзакции хранятся в виде массива.</a:t>
            </a:r>
            <a:br>
              <a:rPr sz="1200"/>
            </a:br>
            <a:r>
              <a:rPr sz="1200"/>
              <a:t>Массив превращается в JSON-строку с помощью</a:t>
            </a:r>
            <a:r>
              <a:rPr sz="1200"/>
              <a:t> </a:t>
            </a:r>
            <a:r>
              <a:rPr sz="1200"/>
              <a:t>JSON.stringify()</a:t>
            </a:r>
            <a:r>
              <a:rPr sz="1200"/>
              <a:t> </a:t>
            </a:r>
            <a:r>
              <a:rPr sz="1200"/>
              <a:t>и сохраняется в</a:t>
            </a:r>
            <a:r>
              <a:rPr sz="1200"/>
              <a:t> </a:t>
            </a:r>
            <a:r>
              <a:rPr sz="1200"/>
              <a:t>localStorage</a:t>
            </a:r>
            <a:r>
              <a:rPr sz="1200"/>
              <a:t> </a:t>
            </a:r>
            <a:r>
              <a:rPr sz="1200"/>
              <a:t>по ключу</a:t>
            </a:r>
            <a:r>
              <a:rPr sz="1200"/>
              <a:t> </a:t>
            </a:r>
            <a:r>
              <a:rPr sz="1200"/>
              <a:t>"transactions"</a:t>
            </a:r>
            <a:r>
              <a:rPr sz="1200"/>
              <a:t>.</a:t>
            </a:r>
            <a:br>
              <a:rPr sz="1200"/>
            </a:br>
            <a:r>
              <a:rPr sz="1200"/>
              <a:t>При загрузке приложения данные читаются из</a:t>
            </a:r>
            <a:r>
              <a:rPr sz="1200"/>
              <a:t> </a:t>
            </a:r>
            <a:r>
              <a:rPr sz="1200"/>
              <a:t>localStorage</a:t>
            </a:r>
            <a:r>
              <a:rPr sz="1200"/>
              <a:t> </a:t>
            </a:r>
            <a:r>
              <a:rPr sz="1200"/>
              <a:t>с помощью</a:t>
            </a:r>
            <a:r>
              <a:rPr sz="1200"/>
              <a:t> </a:t>
            </a:r>
            <a:r>
              <a:rPr sz="1200"/>
              <a:t>JSON.parse()</a:t>
            </a:r>
            <a:r>
              <a:rPr sz="1200"/>
              <a:t>, превращаются обратно в массив и отображаются на экране</a:t>
            </a:r>
            <a:r>
              <a:rPr sz="1200" b="0" i="0" u="none">
                <a:solidFill>
                  <a:srgbClr val="F9FAFB"/>
                </a:solidFill>
                <a:latin typeface="Arial"/>
                <a:ea typeface="Arial"/>
                <a:cs typeface="Arial"/>
              </a:rPr>
              <a:t>.</a:t>
            </a:r>
            <a:endParaRPr sz="1200" b="1" i="0" u="none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Плюсы такого хранения: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Данные не теряются после закрытия браузера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Приложение работает без интернета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Никакие данные не уходят на сервер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Не нужна регистрация и вход в аккаунт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Минусы: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Данные привязаны к конкретному браузеру и устройству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Если очистить историю браузера — данные удалятся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Объём ограничен (примерно 5-10 мегабайт, но для финансовых записей этого достаточно)</a:t>
            </a:r>
            <a:endParaRPr/>
          </a:p>
        </p:txBody>
      </p:sp>
      <p:sp>
        <p:nvSpPr>
          <p:cNvPr id="1164503993" name=""/>
          <p:cNvSpPr/>
          <p:nvPr/>
        </p:nvSpPr>
        <p:spPr bwMode="auto">
          <a:xfrm flipH="0" flipV="0">
            <a:off x="6898662" y="-4853"/>
            <a:ext cx="594554" cy="6867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333631" name=""/>
          <p:cNvSpPr txBox="1"/>
          <p:nvPr/>
        </p:nvSpPr>
        <p:spPr bwMode="auto">
          <a:xfrm flipH="0" flipV="0">
            <a:off x="254649" y="38099"/>
            <a:ext cx="119189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59937902" name=""/>
          <p:cNvSpPr txBox="1"/>
          <p:nvPr/>
        </p:nvSpPr>
        <p:spPr bwMode="auto">
          <a:xfrm flipH="0" flipV="0">
            <a:off x="356249" y="101599"/>
            <a:ext cx="66738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759021026" name=""/>
          <p:cNvSpPr txBox="1"/>
          <p:nvPr/>
        </p:nvSpPr>
        <p:spPr bwMode="auto">
          <a:xfrm flipH="0" flipV="0">
            <a:off x="9290700" y="996949"/>
            <a:ext cx="14795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355013280" name="Прямоугольник 5"/>
          <p:cNvSpPr/>
          <p:nvPr/>
        </p:nvSpPr>
        <p:spPr bwMode="auto">
          <a:xfrm flipH="0" flipV="0">
            <a:off x="123759" y="143870"/>
            <a:ext cx="5862480" cy="1219199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203352819" name="Прямоугольник 5"/>
          <p:cNvSpPr/>
          <p:nvPr/>
        </p:nvSpPr>
        <p:spPr bwMode="auto">
          <a:xfrm flipH="0" flipV="0">
            <a:off x="123758" y="1559879"/>
            <a:ext cx="5862479" cy="1216771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712151413" name="Прямоугольник 5"/>
          <p:cNvSpPr/>
          <p:nvPr/>
        </p:nvSpPr>
        <p:spPr bwMode="auto">
          <a:xfrm flipH="0" flipV="0">
            <a:off x="123758" y="2964123"/>
            <a:ext cx="5862479" cy="1216771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Цветовая индикация: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Доходы — зелёным цветом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Расходы — красным цветом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80177176" name=""/>
          <p:cNvSpPr txBox="1"/>
          <p:nvPr/>
        </p:nvSpPr>
        <p:spPr bwMode="auto">
          <a:xfrm flipH="0" flipV="0">
            <a:off x="254647" y="143869"/>
            <a:ext cx="5741308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Валидация суммы:</a:t>
            </a:r>
            <a:r>
              <a:rPr/>
              <a:t> </a:t>
            </a:r>
            <a:r>
              <a:rPr/>
              <a:t>число больше нуля. Если ошибка — сообщение «Ошибка: введите корректную сумму», транзакция не добавляется</a:t>
            </a:r>
            <a:endParaRPr/>
          </a:p>
        </p:txBody>
      </p:sp>
      <p:sp>
        <p:nvSpPr>
          <p:cNvPr id="1323005337" name=""/>
          <p:cNvSpPr txBox="1"/>
          <p:nvPr/>
        </p:nvSpPr>
        <p:spPr bwMode="auto">
          <a:xfrm flipH="0" flipV="0">
            <a:off x="324318" y="1662350"/>
            <a:ext cx="5336159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Сообщения пользователю: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Зелёное: «Транзакция добавлена» / «Транзакция удалена»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Красное: «Ошибка: введите корректную сумму»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74197670" name="Прямоугольник 5"/>
          <p:cNvSpPr/>
          <p:nvPr/>
        </p:nvSpPr>
        <p:spPr bwMode="auto">
          <a:xfrm flipH="0" flipV="0">
            <a:off x="123758" y="4393839"/>
            <a:ext cx="5862479" cy="1216771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Подтверждение удаления:</a:t>
            </a:r>
            <a:r>
              <a:rPr sz="18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— Диалоговое окно confirm()</a:t>
            </a:r>
            <a:endParaRPr/>
          </a:p>
        </p:txBody>
      </p:sp>
      <p:pic>
        <p:nvPicPr>
          <p:cNvPr id="2142793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02759" y="571985"/>
            <a:ext cx="4876799" cy="4876799"/>
          </a:xfrm>
          <a:prstGeom prst="rect">
            <a:avLst/>
          </a:prstGeom>
        </p:spPr>
      </p:pic>
      <p:sp>
        <p:nvSpPr>
          <p:cNvPr id="1334132349" name=""/>
          <p:cNvSpPr txBox="1"/>
          <p:nvPr/>
        </p:nvSpPr>
        <p:spPr bwMode="auto">
          <a:xfrm flipH="0" flipV="0">
            <a:off x="254648" y="5848471"/>
            <a:ext cx="5783596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Валидация и UX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71972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82024" y="5265079"/>
            <a:ext cx="1473482" cy="1473482"/>
          </a:xfrm>
          <a:prstGeom prst="rect">
            <a:avLst/>
          </a:prstGeom>
        </p:spPr>
      </p:pic>
      <p:sp>
        <p:nvSpPr>
          <p:cNvPr id="1822951242" name=""/>
          <p:cNvSpPr txBox="1"/>
          <p:nvPr/>
        </p:nvSpPr>
        <p:spPr bwMode="auto">
          <a:xfrm flipH="0" flipV="0">
            <a:off x="6221504" y="6066"/>
            <a:ext cx="5980330" cy="52007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ЗАПУСК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│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▼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Загрузка данных из localStorage → отображение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ДОБАВЛЕНИЕ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│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▼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Форма → валидация → массив → localStorage → обновление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ФИЛЬТРАЦИЯ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│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▼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Выбор критериев → фильтр → отображение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УДАЛЕНИЕ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│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▼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Кнопка ❌ → подтверждение → удаление → сохранение → обновление</a:t>
            </a: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Статистика пересчитывается автоматически после каждого действия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5626458" name=""/>
          <p:cNvSpPr txBox="1"/>
          <p:nvPr/>
        </p:nvSpPr>
        <p:spPr bwMode="auto">
          <a:xfrm flipH="0" flipV="0">
            <a:off x="602134" y="66735"/>
            <a:ext cx="5619369" cy="375460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5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1. Запуск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Приложение загружает транзакции из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localStorage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Если данных нет — создаёт пустой массив с примерами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Отображает таблицу и статистику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5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2. Добавление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Пользователь заполняет форму и нажимает «Добавить»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Проверка: сумма &gt; 0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Если всё правильно — транзакция добавляется в массив, сохраняется в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localStorage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, таблица и статистика обновляются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5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3. Удаление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Пользователь нажимает на крестик ❌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Подтверждение: «Точно удалить?»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Если «Да» — транзакция удаляется из массива, сохраняется в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localStorage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, таблица и статистика обновляются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5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4. Фильтрация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Пользователь выбирает тип, категорию или даты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Таблица показывает только подходящие записи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Статистика пересчитывается под фильтры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Кнопка «Сбросить» возвращает всё обратно</a:t>
            </a:r>
            <a:endParaRPr/>
          </a:p>
        </p:txBody>
      </p:sp>
      <p:sp>
        <p:nvSpPr>
          <p:cNvPr id="721982653" name=""/>
          <p:cNvSpPr/>
          <p:nvPr/>
        </p:nvSpPr>
        <p:spPr bwMode="auto">
          <a:xfrm flipH="0" flipV="0">
            <a:off x="-29713" y="-4853"/>
            <a:ext cx="491416" cy="6867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9005502" name=""/>
          <p:cNvSpPr txBox="1"/>
          <p:nvPr/>
        </p:nvSpPr>
        <p:spPr bwMode="auto">
          <a:xfrm flipH="0" flipV="0">
            <a:off x="643709" y="5921273"/>
            <a:ext cx="597088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Алгоритм работы приложения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27693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641772" y="623273"/>
            <a:ext cx="10905051" cy="56078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Проблема 1: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 изменении типа транзакции категории не обновлялись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Какая функция решила: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updateCategories()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 работает: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9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javascript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r>
              <a:rPr sz="1000" b="0" i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getElementById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(</a:t>
            </a:r>
            <a:r>
              <a:rPr sz="1000" b="0" i="0" u="none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"type"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r>
              <a:rPr sz="1000" b="0" i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addEventListener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(</a:t>
            </a:r>
            <a:r>
              <a:rPr sz="1000" b="0" i="0" u="none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"change"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,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updateCategories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Когда пользователь меняет тип (доход/расход), функция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updateCategories()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заново заполняет выпадающий список категорий — подгружает либо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incomeCategories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, либо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expenseCategories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Проблема 2: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После добавления транзакции форма не сбрасывалась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Какая функция решила: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this.reset()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внутри обработчика формы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 работает: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9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javascript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000" b="0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this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r>
              <a:rPr sz="1000" b="0" i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reset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(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;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sz="1000" b="0" i="0" u="none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// очищает все поля формы </a:t>
            </a:r>
            <a:endParaRPr sz="1000" b="0" i="0" u="none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000" b="0" i="0" u="none">
                <a:solidFill>
                  <a:srgbClr val="7030A0"/>
                </a:solidFill>
                <a:latin typeface="Arial"/>
                <a:ea typeface="Arial"/>
                <a:cs typeface="Arial"/>
              </a:rPr>
              <a:t>updateCategories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(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;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sz="1000" b="0" i="0" u="none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// восстанавливает категории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После успешного добавления транзакции форма очищается автоматически.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Проблема 3: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Текстовая диаграмма не отображалась при отсутствии расходов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Какая функция решила:</a:t>
            </a: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buildTextChart()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 работает: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9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javascript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000" b="0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if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(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total </a:t>
            </a:r>
            <a:r>
              <a:rPr sz="1000" b="0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===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0" i="0" u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0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{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   </a:t>
            </a:r>
            <a:endParaRPr sz="1000" b="0" i="0" u="none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000" b="0" i="0" u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return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0" i="0" u="none">
                <a:solidFill>
                  <a:schemeClr val="accent6"/>
                </a:solidFill>
                <a:latin typeface="Arial"/>
                <a:ea typeface="Arial"/>
                <a:cs typeface="Arial"/>
              </a:rPr>
              <a:t>"Нет расходов"</a:t>
            </a: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;</a:t>
            </a:r>
            <a:endParaRPr sz="1000" b="0" i="0" u="none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0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}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Функция проверяет общую сумму расходов. Если она равна нулю — возвращает сообщение «Нет расходов», а не пытается строить диаграмму с делением на ноль.</a:t>
            </a:r>
            <a:b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/>
          </a:p>
        </p:txBody>
      </p:sp>
      <p:sp>
        <p:nvSpPr>
          <p:cNvPr id="539635512" name=""/>
          <p:cNvSpPr txBox="1"/>
          <p:nvPr/>
        </p:nvSpPr>
        <p:spPr bwMode="auto">
          <a:xfrm flipH="0" flipV="0">
            <a:off x="641772" y="-17165"/>
            <a:ext cx="432299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ТЕХНИЧЕСКИЕ ПРОБЛЕМЫ И РЕШЕНИЯ.</a:t>
            </a:r>
            <a:endParaRPr/>
          </a:p>
        </p:txBody>
      </p:sp>
      <p:sp>
        <p:nvSpPr>
          <p:cNvPr id="95549051" name="Rectangle 3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41772" y="623273"/>
            <a:ext cx="10905051" cy="5607880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41273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4718" y="1051086"/>
            <a:ext cx="4097332" cy="3351343"/>
          </a:xfrm>
          <a:prstGeom prst="rect">
            <a:avLst/>
          </a:prstGeom>
        </p:spPr>
      </p:pic>
      <p:pic>
        <p:nvPicPr>
          <p:cNvPr id="83093732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17432" y="999518"/>
            <a:ext cx="4097332" cy="3402912"/>
          </a:xfrm>
          <a:prstGeom prst="rect">
            <a:avLst/>
          </a:prstGeom>
        </p:spPr>
      </p:pic>
      <p:cxnSp>
        <p:nvCxnSpPr>
          <p:cNvPr id="350849263" name=""/>
          <p:cNvCxnSpPr/>
          <p:nvPr/>
        </p:nvCxnSpPr>
        <p:spPr bwMode="auto">
          <a:xfrm flipH="0" flipV="1">
            <a:off x="-16380" y="4402430"/>
            <a:ext cx="12224760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777657" name=""/>
          <p:cNvSpPr txBox="1"/>
          <p:nvPr/>
        </p:nvSpPr>
        <p:spPr bwMode="auto">
          <a:xfrm flipH="0" flipV="0">
            <a:off x="849983" y="194140"/>
            <a:ext cx="430892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Инструкция по запуску</a:t>
            </a:r>
            <a:endParaRPr/>
          </a:p>
        </p:txBody>
      </p:sp>
      <p:sp>
        <p:nvSpPr>
          <p:cNvPr id="2100425390" name=""/>
          <p:cNvSpPr txBox="1"/>
          <p:nvPr/>
        </p:nvSpPr>
        <p:spPr bwMode="auto">
          <a:xfrm flipH="0" flipV="0">
            <a:off x="-16380" y="4402429"/>
            <a:ext cx="7719695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ЛОКАЛЬНЫЙ ЗАПУСК</a:t>
            </a: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git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clone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https://github.com/Laffite206/finance-calculator.git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D67ACD"/>
                </a:solidFill>
                <a:latin typeface="Arial"/>
                <a:ea typeface="Arial"/>
                <a:cs typeface="Arial"/>
              </a:rPr>
              <a:t>cd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finance-calculator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# Открыть index.html в браузере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0044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49695" y="5042197"/>
            <a:ext cx="1467563" cy="1467563"/>
          </a:xfrm>
          <a:prstGeom prst="rect">
            <a:avLst/>
          </a:prstGeom>
        </p:spPr>
      </p:pic>
      <p:pic>
        <p:nvPicPr>
          <p:cNvPr id="140306597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7851" y="113814"/>
            <a:ext cx="1266400" cy="1266400"/>
          </a:xfrm>
          <a:prstGeom prst="rect">
            <a:avLst/>
          </a:prstGeom>
        </p:spPr>
      </p:pic>
      <p:pic>
        <p:nvPicPr>
          <p:cNvPr id="195461458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1030165" y="38728"/>
            <a:ext cx="1116223" cy="1116223"/>
          </a:xfrm>
          <a:prstGeom prst="rect">
            <a:avLst/>
          </a:prstGeom>
        </p:spPr>
      </p:pic>
      <p:pic>
        <p:nvPicPr>
          <p:cNvPr id="140331871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207851" y="5386289"/>
            <a:ext cx="1308699" cy="1308699"/>
          </a:xfrm>
          <a:prstGeom prst="rect">
            <a:avLst/>
          </a:prstGeom>
        </p:spPr>
      </p:pic>
      <p:sp>
        <p:nvSpPr>
          <p:cNvPr id="693413127" name=""/>
          <p:cNvSpPr txBox="1"/>
          <p:nvPr/>
        </p:nvSpPr>
        <p:spPr bwMode="auto">
          <a:xfrm flipH="0" flipV="0">
            <a:off x="2992251" y="596840"/>
            <a:ext cx="6211816" cy="53377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Выводы</a:t>
            </a:r>
            <a:r>
              <a:rPr lang="en-US" sz="3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 Изучены технологии HTML5, CSS3, JavaScript, localStorage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2. Создан удобный адаптивный интерфейс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3. Реализованы добавление, удаление и фильтрация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4. Организовано хранение данных в localStorage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5. Разработана статистика и текстовая диаграмма (█)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Общий вывод: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Приложение позволяет вести учёт финансов,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анализировать расходы и контролировать баланс.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Работает автономно, бесплатно, данные на устройстве.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Доклад окончен. Спасибо за внимание!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modified xsi:type="dcterms:W3CDTF">2026-06-10T02:17:10Z</dcterms:modified>
</cp:coreProperties>
</file>